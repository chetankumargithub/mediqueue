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0"/>
            <a:ext cx="27432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325880"/>
            <a:ext cx="18288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143000"/>
            <a:ext cx="13716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261872"/>
            <a:ext cx="13716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097280"/>
            <a:ext cx="18288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207008"/>
            <a:ext cx="27432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371600"/>
            <a:ext cx="27432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058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MediQueue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 Priority System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– Good Health and Well-being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114800" cy="3657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1089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A2535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1089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A2535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1089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A2535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31089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A2535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EMPATHISE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Emergency Room, first-come-first-served logic can be deadly. A critical trauma patient arriving moments after a minor injury case must not wait in line. Delayed treatment of critical cases leads to preventable deaths and long-term disability.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2651760" cy="1371600"/>
          </a:xfrm>
          <a:prstGeom prst="rect">
            <a:avLst/>
          </a:prstGeom>
          <a:solidFill>
            <a:srgbClr val="1E2D42"/>
          </a:solidFill>
          <a:ln w="1270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788920"/>
            <a:ext cx="26517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~136M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visits/year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 alone)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788920"/>
            <a:ext cx="2651760" cy="1371600"/>
          </a:xfrm>
          <a:prstGeom prst="rect">
            <a:avLst/>
          </a:prstGeom>
          <a:solidFill>
            <a:srgbClr val="1E2D42"/>
          </a:solidFill>
          <a:ln w="1270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788920"/>
            <a:ext cx="26517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3520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788920"/>
            <a:ext cx="2651760" cy="1371600"/>
          </a:xfrm>
          <a:prstGeom prst="rect">
            <a:avLst/>
          </a:prstGeom>
          <a:solidFill>
            <a:srgbClr val="1E2D42"/>
          </a:solidFill>
          <a:ln w="1270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788920"/>
            <a:ext cx="26517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3520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 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triage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234440"/>
            <a:ext cx="3200400" cy="13716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34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First-come, First-served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in the 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DEFINE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MediQueue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2651760"/>
          </a:xfrm>
          <a:prstGeom prst="rect">
            <a:avLst/>
          </a:prstGeom>
          <a:solidFill>
            <a:srgbClr val="1E2D42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463040"/>
            <a:ext cx="640080" cy="6400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vitals captured: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O₂ · Pain · Age ·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57860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325880"/>
            <a:ext cx="2011680" cy="2651760"/>
          </a:xfrm>
          <a:prstGeom prst="rect">
            <a:avLst/>
          </a:prstGeom>
          <a:solidFill>
            <a:srgbClr val="1E2D42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25880"/>
            <a:ext cx="2011680" cy="640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1463040"/>
            <a:ext cx="640080" cy="6400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42032" y="2606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Score (0-100)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per vitals formula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62272" y="257860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325880"/>
            <a:ext cx="2011680" cy="2651760"/>
          </a:xfrm>
          <a:prstGeom prst="rect">
            <a:avLst/>
          </a:prstGeom>
          <a:solidFill>
            <a:srgbClr val="1E2D42"/>
          </a:solidFill>
          <a:ln w="1905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325880"/>
            <a:ext cx="201168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12664" y="1463040"/>
            <a:ext cx="640080" cy="6400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18304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18304" y="2606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Max-priority heap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criticality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38544" y="2578608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325880"/>
            <a:ext cx="2011680" cy="2651760"/>
          </a:xfrm>
          <a:prstGeom prst="rect">
            <a:avLst/>
          </a:prstGeom>
          <a:solidFill>
            <a:srgbClr val="1E2D42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325880"/>
            <a:ext cx="201168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1463040"/>
            <a:ext cx="640080" cy="6400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893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9457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Re-Triage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94576" y="2606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updated live;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wait-boost prevents starvation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MediQueue replaces FCFS with a vitals-driven priority queue, ensuring the most critical patient is always treated first.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IDEATE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Score Formula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Score  =  O₂ Penalty (≤50)  +  HR Deviation (≤25)  +  Pain Score (≤15)  +  Age Risk (≤10)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011680" cy="2651760"/>
          </a:xfrm>
          <a:prstGeom prst="rect">
            <a:avLst/>
          </a:prstGeom>
          <a:solidFill>
            <a:srgbClr val="1E2D4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201168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Saturation (0-50 pts)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85% → 50 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85–89% → 40 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90–93% → 25 pts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94–95% → 10 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96% → 0 pts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42032" y="2057400"/>
            <a:ext cx="2011680" cy="2651760"/>
          </a:xfrm>
          <a:prstGeom prst="rect">
            <a:avLst/>
          </a:prstGeom>
          <a:solidFill>
            <a:srgbClr val="1E2D42"/>
          </a:solidFill>
          <a:ln w="127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2057400"/>
            <a:ext cx="2011680" cy="640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(0-25 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33472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150 or &lt; 40 → 25 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33472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130 or &lt; 50 → 18 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110 or &lt; 55 → 10 pts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33472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 or &lt; 60 → 5 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0 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18304" y="2057400"/>
            <a:ext cx="2011680" cy="2651760"/>
          </a:xfrm>
          <a:prstGeom prst="rect">
            <a:avLst/>
          </a:prstGeom>
          <a:solidFill>
            <a:srgbClr val="1E2D42"/>
          </a:solidFill>
          <a:ln w="1270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057400"/>
            <a:ext cx="201168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Level (0-15 pts)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9744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→ 15 pts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744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 → 10 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 → 5 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9744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 → 2 pts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9744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 → 0 pts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2057400"/>
            <a:ext cx="2011680" cy="2651760"/>
          </a:xfrm>
          <a:prstGeom prst="rect">
            <a:avLst/>
          </a:prstGeom>
          <a:solidFill>
            <a:srgbClr val="1E2D4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94576" y="2057400"/>
            <a:ext cx="201168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Risk (0-10 pts)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6016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≥75 or ≤5   → 10 pts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86016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≥65 or ≤12  → 6 pts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86016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         → 3 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86016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      → 0 pts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86016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Priority Levels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51560"/>
          </a:xfrm>
          <a:prstGeom prst="rect">
            <a:avLst/>
          </a:prstGeom>
          <a:solidFill>
            <a:srgbClr val="2D1515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1051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128016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60 – 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481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vitals. Organ failure risk. Must be seen within minutes.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508760"/>
            <a:ext cx="18288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Immediate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HR &gt; 150, O₂ &lt; 85%, Pain 9–10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8412480" cy="1051560"/>
          </a:xfrm>
          <a:prstGeom prst="rect">
            <a:avLst/>
          </a:prstGeom>
          <a:solidFill>
            <a:srgbClr val="2D1E0D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78608"/>
            <a:ext cx="109728" cy="10515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807208"/>
            <a:ext cx="1280160" cy="3200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07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172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30 – 59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68833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distress but stable enough to wait briefly. Needs close monitoring.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715768"/>
            <a:ext cx="18288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&lt; 30 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HR 120–130, O₂ 90–93%, Pain 5–8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85616"/>
            <a:ext cx="8412480" cy="1051560"/>
          </a:xfrm>
          <a:prstGeom prst="rect">
            <a:avLst/>
          </a:prstGeom>
          <a:solidFill>
            <a:srgbClr val="0D2018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85616"/>
            <a:ext cx="109728" cy="10515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14216"/>
            <a:ext cx="1280160" cy="320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14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379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– 29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389534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complaints. Normal vitals. Receives wait-boost if waiting &gt; 2 hours.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3922776"/>
            <a:ext cx="18288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9227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&lt; 2 hrs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288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HR 65–90, O₂ 96–100%, Pain 1–3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Wait-Boost Rule: Stable patients waiting &gt; 2 hours receive +15 to their score to prevent indefinite deferral.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 Cases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78992"/>
          </a:xfrm>
          <a:prstGeom prst="rect">
            <a:avLst/>
          </a:prstGeom>
          <a:solidFill>
            <a:srgbClr val="1E2D4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10789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82296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490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Override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 arrives 15 min after Patient A. A has stable O₂ (97%). B has O₂ = 87% (&lt; 90%). MediQueue scores B = 45 (Moderate) vs A = 2 (Stable). B is dequeued first. ✓ PASS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1078992"/>
          </a:xfrm>
          <a:prstGeom prst="rect">
            <a:avLst/>
          </a:prstGeom>
          <a:solidFill>
            <a:srgbClr val="1E2D42"/>
          </a:solidFill>
          <a:ln w="127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06040"/>
            <a:ext cx="109728" cy="107899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743200"/>
            <a:ext cx="822960" cy="3200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43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Isolation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136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C001 vitals (O₂: 82, Pain: 9 → score 65) leaves C002's score unchanged at 18. Dictionary lookup is fully isolated per patient_id. ✓ 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1078992"/>
          </a:xfrm>
          <a:prstGeom prst="rect">
            <a:avLst/>
          </a:prstGeom>
          <a:solidFill>
            <a:srgbClr val="1E2D4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109728" cy="10789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77640"/>
            <a:ext cx="822960" cy="320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77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959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Boost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D001 arrives at 08:00 with score 0 (Stable). At 10:05 (2h5m wait), apply_wait_time_boost() raises score to 15 to prevent indefinite deferral. ✓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test cases passed. System handles edge cases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Distribution &amp; Outcomes</a:t>
            </a:r>
            <a:endParaRPr lang="en-US" sz="3200" dirty="0"/>
          </a:p>
        </p:txBody>
      </p:sp>
      <p:pic>
        <p:nvPicPr>
          <p:cNvPr id="5" name="Image 0" descr="/mnt/user-data/outputs/triag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035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188720"/>
            <a:ext cx="2834640" cy="566928"/>
          </a:xfrm>
          <a:prstGeom prst="rect">
            <a:avLst/>
          </a:prstGeom>
          <a:solidFill>
            <a:srgbClr val="1E2D4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188720"/>
            <a:ext cx="731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61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1847088"/>
            <a:ext cx="2834640" cy="566928"/>
          </a:xfrm>
          <a:prstGeom prst="rect">
            <a:avLst/>
          </a:prstGeom>
          <a:solidFill>
            <a:srgbClr val="1E2D4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847088"/>
            <a:ext cx="73152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920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0" y="1984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2505456"/>
            <a:ext cx="2834640" cy="566928"/>
          </a:xfrm>
          <a:prstGeom prst="rect">
            <a:avLst/>
          </a:prstGeom>
          <a:solidFill>
            <a:srgbClr val="1E2D42"/>
          </a:solidFill>
          <a:ln w="127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505456"/>
            <a:ext cx="73152" cy="56692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5786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32320" y="2642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3163824"/>
            <a:ext cx="2834640" cy="566928"/>
          </a:xfrm>
          <a:prstGeom prst="rect">
            <a:avLst/>
          </a:prstGeom>
          <a:solidFill>
            <a:srgbClr val="1E2D4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163824"/>
            <a:ext cx="73152" cy="56692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2369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132320" y="3300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3822192"/>
            <a:ext cx="2834640" cy="566928"/>
          </a:xfrm>
          <a:prstGeom prst="rect">
            <a:avLst/>
          </a:prstGeom>
          <a:solidFill>
            <a:srgbClr val="1E2D42"/>
          </a:solidFill>
          <a:ln w="12700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0" y="3822192"/>
            <a:ext cx="73152" cy="56692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8953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32320" y="3959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Wait-Boosted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Alignment &amp; ER Efficiency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Mortality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treated first, cutting avoidable ER deaths.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453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Throughput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reduces average wait time for severe cases by ~60%.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453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Re-Triage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dictionary update re-scores patients when vitals change.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054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via Wait-Boost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patients can't wait indefinitely — +15 boost after 2 hours.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3054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triage_order.csv logs every patient rank, score and priority level.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43200" cy="1417320"/>
          </a:xfrm>
          <a:prstGeom prst="rect">
            <a:avLst/>
          </a:prstGeom>
          <a:solidFill>
            <a:srgbClr val="1E2D42"/>
          </a:solidFill>
          <a:ln w="9525">
            <a:solidFill>
              <a:srgbClr val="0E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12280" y="3054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3.4 / 3.8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5204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universal health coverage and reduces premature deaths.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5074920"/>
            <a:ext cx="8979408" cy="6858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MediQueue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lives — one priority at a time.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3657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210-patient synthetic dataset with balanced triage levels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Acuity Score formula covering O₂, HR, Pain, and Age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Max-priority heap for O(log n) enqueue/dequeue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re-triage via dictionary in-place update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Wait-boost fairness mechanism for stable patients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 test cases passed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640080"/>
            <a:ext cx="2148840" cy="40233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298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31272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4041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– Good Health and Well-being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MediQueue – Emergency Triage Priority System</dc:title>
  <dc:subject>PptxGenJS Presentation</dc:subject>
  <dc:creator>PptxGenJS</dc:creator>
  <cp:lastModifiedBy>PptxGenJS</cp:lastModifiedBy>
  <cp:revision>1</cp:revision>
  <dcterms:created xsi:type="dcterms:W3CDTF">2026-03-17T16:18:14Z</dcterms:created>
  <dcterms:modified xsi:type="dcterms:W3CDTF">2026-03-17T16:18:14Z</dcterms:modified>
</cp:coreProperties>
</file>